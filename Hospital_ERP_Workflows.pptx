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6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ERP &amp; Operations 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Process Flowcharts &amp; Automated Accounting</a:t>
            </a:r>
          </a:p>
          <a:p>
            <a:r>
              <a:t>Prepared for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971"/>
                </a:solidFill>
              </a:defRPr>
            </a:pPr>
            <a:r>
              <a:t>HOSPITAL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146304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Hospital Operations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2048256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32051" y="2450592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81640" y="2450592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IP Billing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2205" y="2450592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Diagnostics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34840" y="3035808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3438144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 Accounting Entry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4023359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71800" y="4425696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Receipt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34840" y="5010912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800" y="5413248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Cash / Bank Collection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434840" y="5998464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2336" y="6400800"/>
            <a:ext cx="3950208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Cash 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1456" y="6400800"/>
            <a:ext cx="3950208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Bank 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971"/>
                </a:solidFill>
              </a:defRPr>
            </a:pPr>
            <a:r>
              <a:t>PURCHASE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146304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Department Request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1907177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71800" y="2168434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Purchase</a:t>
            </a:r>
            <a:r>
              <a:rPr lang="en-GB" dirty="0"/>
              <a:t> Rate Analysis</a:t>
            </a:r>
            <a:endParaRPr dirty="0"/>
          </a:p>
        </p:txBody>
      </p:sp>
      <p:sp>
        <p:nvSpPr>
          <p:cNvPr id="6" name="Down Arrow 5"/>
          <p:cNvSpPr/>
          <p:nvPr/>
        </p:nvSpPr>
        <p:spPr>
          <a:xfrm>
            <a:off x="4434840" y="2612571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1800" y="2873828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Purchase Order (PO)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34840" y="3317965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3579222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Goods Receipt Note (GRN)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34840" y="402336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4284617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Purchase Invoice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34840" y="4728754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71800" y="4990011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Vendor Payable Created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34840" y="5434148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71800" y="5695405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Payment Voucher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434840" y="6139542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71800" y="640080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Cash / Bank Payment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971"/>
                </a:solidFill>
              </a:defRPr>
            </a:pPr>
            <a:r>
              <a:t>INVENTORY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146304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Purchase Receipt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217170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71800" y="269748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Inventory Stock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34840" y="340614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29893" y="3931920"/>
            <a:ext cx="1975104" cy="457200"/>
          </a:xfrm>
          <a:prstGeom prst="roundRect">
            <a:avLst/>
          </a:prstGeom>
          <a:solidFill>
            <a:srgbClr val="DC354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Cath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4453" y="393192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Diagnostics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9013" y="393192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General Store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464058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71800" y="516636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Consumption Entry</a:t>
            </a:r>
            <a:r>
              <a:rPr lang="en-GB" dirty="0"/>
              <a:t>(Automatic and Manual)</a:t>
            </a:r>
            <a:endParaRPr dirty="0"/>
          </a:p>
        </p:txBody>
      </p:sp>
      <p:sp>
        <p:nvSpPr>
          <p:cNvPr id="13" name="Down Arrow 12"/>
          <p:cNvSpPr/>
          <p:nvPr/>
        </p:nvSpPr>
        <p:spPr>
          <a:xfrm>
            <a:off x="4434840" y="587502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800" y="640080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Expense Booking in Accounts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971"/>
                </a:solidFill>
              </a:defRPr>
            </a:pPr>
            <a:r>
              <a:rPr dirty="0"/>
              <a:t>INSURANCE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146304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Patient </a:t>
            </a:r>
            <a:r>
              <a:rPr lang="en-GB" dirty="0" err="1"/>
              <a:t>Cathlab</a:t>
            </a:r>
            <a:r>
              <a:rPr lang="en-GB" dirty="0"/>
              <a:t> </a:t>
            </a:r>
            <a:r>
              <a:rPr dirty="0"/>
              <a:t>Procedure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196596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71800" y="228600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Insurance Claim Raised</a:t>
            </a:r>
            <a:r>
              <a:rPr lang="en-GB" dirty="0"/>
              <a:t> by Orchid</a:t>
            </a:r>
            <a:endParaRPr dirty="0"/>
          </a:p>
        </p:txBody>
      </p:sp>
      <p:sp>
        <p:nvSpPr>
          <p:cNvPr id="6" name="Down Arrow 5"/>
          <p:cNvSpPr/>
          <p:nvPr/>
        </p:nvSpPr>
        <p:spPr>
          <a:xfrm>
            <a:off x="4434840" y="278892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1800" y="310896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Insurance Receivable Created</a:t>
            </a:r>
            <a:r>
              <a:rPr lang="en-GB" dirty="0"/>
              <a:t> in favour of Orchid </a:t>
            </a:r>
            <a:r>
              <a:rPr lang="en-GB" dirty="0" err="1"/>
              <a:t>Recievable</a:t>
            </a:r>
            <a:endParaRPr dirty="0"/>
          </a:p>
        </p:txBody>
      </p:sp>
      <p:sp>
        <p:nvSpPr>
          <p:cNvPr id="8" name="Down Arrow 7"/>
          <p:cNvSpPr/>
          <p:nvPr/>
        </p:nvSpPr>
        <p:spPr>
          <a:xfrm>
            <a:off x="4434840" y="361188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393192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Claim Approval</a:t>
            </a:r>
            <a:r>
              <a:rPr lang="en-GB" dirty="0"/>
              <a:t> Received Orchid-Status updating in our HIS</a:t>
            </a:r>
            <a:endParaRPr dirty="0"/>
          </a:p>
        </p:txBody>
      </p:sp>
      <p:sp>
        <p:nvSpPr>
          <p:cNvPr id="10" name="Down Arrow 9"/>
          <p:cNvSpPr/>
          <p:nvPr/>
        </p:nvSpPr>
        <p:spPr>
          <a:xfrm>
            <a:off x="4434840" y="443484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475488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en-GB" dirty="0"/>
              <a:t>Orchid Receivables</a:t>
            </a:r>
            <a:r>
              <a:rPr dirty="0"/>
              <a:t> Collection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34840" y="5257799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71800" y="557784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Receipt Voucher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434840" y="6080759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71800" y="640080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Bank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971"/>
                </a:solidFill>
              </a:defRPr>
            </a:pPr>
            <a:r>
              <a:t>PAYROLL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146304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Attendance</a:t>
            </a:r>
            <a:r>
              <a:rPr lang="en-GB" dirty="0"/>
              <a:t>(not compulsory)</a:t>
            </a:r>
            <a:endParaRPr dirty="0"/>
          </a:p>
        </p:txBody>
      </p:sp>
      <p:sp>
        <p:nvSpPr>
          <p:cNvPr id="4" name="Down Arrow 3"/>
          <p:cNvSpPr/>
          <p:nvPr/>
        </p:nvSpPr>
        <p:spPr>
          <a:xfrm>
            <a:off x="4434840" y="217170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71800" y="269748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Salary Processing</a:t>
            </a:r>
            <a:r>
              <a:rPr lang="en-GB" dirty="0"/>
              <a:t> (Import through Excel)</a:t>
            </a:r>
            <a:endParaRPr dirty="0"/>
          </a:p>
        </p:txBody>
      </p:sp>
      <p:sp>
        <p:nvSpPr>
          <p:cNvPr id="6" name="Down Arrow 5"/>
          <p:cNvSpPr/>
          <p:nvPr/>
        </p:nvSpPr>
        <p:spPr>
          <a:xfrm>
            <a:off x="4434840" y="340614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1800" y="393192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Salary Payable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34840" y="464058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516636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Payment Voucher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34840" y="587502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640080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Bank Transfer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971"/>
                </a:solidFill>
              </a:defRPr>
            </a:pPr>
            <a:r>
              <a:rPr lang="en-GB" dirty="0"/>
              <a:t>DOCTOR’S PAYABLE </a:t>
            </a:r>
            <a:r>
              <a:rPr dirty="0"/>
              <a:t>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1800" y="146304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Patient Service Revenue</a:t>
            </a:r>
            <a:r>
              <a:rPr lang="en-GB" dirty="0"/>
              <a:t>-OP,IP,DIAGNOSTICS..ETC</a:t>
            </a:r>
            <a:endParaRPr dirty="0"/>
          </a:p>
        </p:txBody>
      </p:sp>
      <p:sp>
        <p:nvSpPr>
          <p:cNvPr id="4" name="Down Arrow 3"/>
          <p:cNvSpPr/>
          <p:nvPr/>
        </p:nvSpPr>
        <p:spPr>
          <a:xfrm>
            <a:off x="4434840" y="217170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71800" y="269748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Incentive Calculation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34840" y="340614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1800" y="393192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Doctor Payable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34840" y="464058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516636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Payment Voucher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34840" y="587502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71800" y="640080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Bank/Cash Payment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971"/>
                </a:solidFill>
              </a:defRPr>
            </a:pPr>
            <a:r>
              <a:t>FINANCE MODULE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1463040"/>
            <a:ext cx="1316736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Receipt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19072" y="1463040"/>
            <a:ext cx="1316736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2112" y="1463040"/>
            <a:ext cx="1316736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45152" y="1463040"/>
            <a:ext cx="1316736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Journal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8192" y="1463040"/>
            <a:ext cx="1316736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Debit Note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71231" y="1463040"/>
            <a:ext cx="1316736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Credit Note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34840" y="217170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269748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Day Book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340614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71800" y="393192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General Ledger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34840" y="464058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1800" y="5166360"/>
            <a:ext cx="32004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Trial Balance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434840" y="587502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" y="640080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P&amp;L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640080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1728" y="640080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Cash Flow</a:t>
            </a:r>
            <a:r>
              <a:rPr lang="en-GB" dirty="0"/>
              <a:t> &amp; Fund Flow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876288" y="640080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MIS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7601-5A3D-D599-1424-FC2AEBA7EB0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944561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b="1">
                <a:solidFill>
                  <a:srgbClr val="1A4971"/>
                </a:solidFill>
              </a:defRPr>
            </a:pPr>
            <a:r>
              <a:rPr lang="en-GB" sz="3200" b="1" dirty="0">
                <a:solidFill>
                  <a:srgbClr val="1A4971"/>
                </a:solidFill>
              </a:rPr>
              <a:t>Integrated Automated Accounting Workflow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75CDB7-3495-EB37-D199-751356A4E4C0}"/>
              </a:ext>
            </a:extLst>
          </p:cNvPr>
          <p:cNvSpPr/>
          <p:nvPr/>
        </p:nvSpPr>
        <p:spPr>
          <a:xfrm>
            <a:off x="292608" y="128016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Billing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A5551E-F93D-623E-10B3-8A13024985F9}"/>
              </a:ext>
            </a:extLst>
          </p:cNvPr>
          <p:cNvSpPr/>
          <p:nvPr/>
        </p:nvSpPr>
        <p:spPr>
          <a:xfrm>
            <a:off x="2487168" y="128016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Purchase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FF1C99-B2A5-A804-AF0F-44863B898EEC}"/>
              </a:ext>
            </a:extLst>
          </p:cNvPr>
          <p:cNvSpPr/>
          <p:nvPr/>
        </p:nvSpPr>
        <p:spPr>
          <a:xfrm>
            <a:off x="4681728" y="128016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Inventory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B357FC1-EE99-4684-E9E0-34CB2D128EA2}"/>
              </a:ext>
            </a:extLst>
          </p:cNvPr>
          <p:cNvSpPr/>
          <p:nvPr/>
        </p:nvSpPr>
        <p:spPr>
          <a:xfrm>
            <a:off x="6876288" y="1280160"/>
            <a:ext cx="1975104" cy="457200"/>
          </a:xfrm>
          <a:prstGeom prst="roundRect">
            <a:avLst/>
          </a:prstGeom>
          <a:solidFill>
            <a:srgbClr val="00968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Payroll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738888CF-48AC-B5AC-1C94-C785FA8B8F88}"/>
              </a:ext>
            </a:extLst>
          </p:cNvPr>
          <p:cNvSpPr/>
          <p:nvPr/>
        </p:nvSpPr>
        <p:spPr>
          <a:xfrm>
            <a:off x="4434840" y="1798319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F74072-B656-8EBF-774E-E217216CF391}"/>
              </a:ext>
            </a:extLst>
          </p:cNvPr>
          <p:cNvSpPr/>
          <p:nvPr/>
        </p:nvSpPr>
        <p:spPr>
          <a:xfrm>
            <a:off x="2743200" y="2133599"/>
            <a:ext cx="36576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 Voucher Creation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199AE54B-AD06-B177-7B5F-9B202433E03C}"/>
              </a:ext>
            </a:extLst>
          </p:cNvPr>
          <p:cNvSpPr/>
          <p:nvPr/>
        </p:nvSpPr>
        <p:spPr>
          <a:xfrm>
            <a:off x="4434840" y="265176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2AD6E7-5A51-7C1C-D1A8-98555194EEE2}"/>
              </a:ext>
            </a:extLst>
          </p:cNvPr>
          <p:cNvSpPr/>
          <p:nvPr/>
        </p:nvSpPr>
        <p:spPr>
          <a:xfrm>
            <a:off x="329184" y="2987040"/>
            <a:ext cx="2633472" cy="457200"/>
          </a:xfrm>
          <a:prstGeom prst="roundRect">
            <a:avLst/>
          </a:prstGeom>
          <a:solidFill>
            <a:srgbClr val="4682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Receipt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2F9369-E71E-7530-5725-EFFDAAAD6032}"/>
              </a:ext>
            </a:extLst>
          </p:cNvPr>
          <p:cNvSpPr/>
          <p:nvPr/>
        </p:nvSpPr>
        <p:spPr>
          <a:xfrm>
            <a:off x="3255264" y="2987040"/>
            <a:ext cx="2633472" cy="457200"/>
          </a:xfrm>
          <a:prstGeom prst="roundRect">
            <a:avLst/>
          </a:prstGeom>
          <a:solidFill>
            <a:srgbClr val="4682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Payment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CA3106F-58E6-223C-2591-5AF9439487A0}"/>
              </a:ext>
            </a:extLst>
          </p:cNvPr>
          <p:cNvSpPr/>
          <p:nvPr/>
        </p:nvSpPr>
        <p:spPr>
          <a:xfrm>
            <a:off x="6181344" y="2987040"/>
            <a:ext cx="2633472" cy="457200"/>
          </a:xfrm>
          <a:prstGeom prst="roundRect">
            <a:avLst/>
          </a:prstGeom>
          <a:solidFill>
            <a:srgbClr val="4682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Journal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3364E37D-B4B0-3EE7-8C0D-47B24B9D26E8}"/>
              </a:ext>
            </a:extLst>
          </p:cNvPr>
          <p:cNvSpPr/>
          <p:nvPr/>
        </p:nvSpPr>
        <p:spPr>
          <a:xfrm>
            <a:off x="4434840" y="3505199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3F9AF4-444F-824F-D938-1D5BA598FFB4}"/>
              </a:ext>
            </a:extLst>
          </p:cNvPr>
          <p:cNvSpPr/>
          <p:nvPr/>
        </p:nvSpPr>
        <p:spPr>
          <a:xfrm>
            <a:off x="2743200" y="3840479"/>
            <a:ext cx="36576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Day Book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1961AA78-335C-F8B4-256F-C52115CC7F27}"/>
              </a:ext>
            </a:extLst>
          </p:cNvPr>
          <p:cNvSpPr/>
          <p:nvPr/>
        </p:nvSpPr>
        <p:spPr>
          <a:xfrm>
            <a:off x="4434840" y="4358639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D492D7D-4150-4133-5542-D25372D7DB5F}"/>
              </a:ext>
            </a:extLst>
          </p:cNvPr>
          <p:cNvSpPr/>
          <p:nvPr/>
        </p:nvSpPr>
        <p:spPr>
          <a:xfrm>
            <a:off x="2743200" y="4693920"/>
            <a:ext cx="36576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Ledger Posting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3E773A26-7B2A-431C-93B6-4283A98EF939}"/>
              </a:ext>
            </a:extLst>
          </p:cNvPr>
          <p:cNvSpPr/>
          <p:nvPr/>
        </p:nvSpPr>
        <p:spPr>
          <a:xfrm>
            <a:off x="4434840" y="5212079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3F33B68-B42C-D411-696E-7DE260C381FE}"/>
              </a:ext>
            </a:extLst>
          </p:cNvPr>
          <p:cNvSpPr/>
          <p:nvPr/>
        </p:nvSpPr>
        <p:spPr>
          <a:xfrm>
            <a:off x="2743200" y="5547360"/>
            <a:ext cx="3657600" cy="457200"/>
          </a:xfrm>
          <a:prstGeom prst="roundRect">
            <a:avLst/>
          </a:prstGeom>
          <a:solidFill>
            <a:srgbClr val="1A497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Trial Balance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5257192E-5303-2C05-666D-813C74557996}"/>
              </a:ext>
            </a:extLst>
          </p:cNvPr>
          <p:cNvSpPr/>
          <p:nvPr/>
        </p:nvSpPr>
        <p:spPr>
          <a:xfrm>
            <a:off x="4434840" y="6065520"/>
            <a:ext cx="274320" cy="274320"/>
          </a:xfrm>
          <a:prstGeom prst="down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BC3D803-882C-D2E6-D205-0B069AFB5B75}"/>
              </a:ext>
            </a:extLst>
          </p:cNvPr>
          <p:cNvSpPr/>
          <p:nvPr/>
        </p:nvSpPr>
        <p:spPr>
          <a:xfrm>
            <a:off x="329184" y="6400800"/>
            <a:ext cx="2633472" cy="457200"/>
          </a:xfrm>
          <a:prstGeom prst="roundRect">
            <a:avLst/>
          </a:prstGeom>
          <a:solidFill>
            <a:srgbClr val="2E8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P&amp;L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14D1836-E3A4-8D0F-3E43-624E98742F43}"/>
              </a:ext>
            </a:extLst>
          </p:cNvPr>
          <p:cNvSpPr/>
          <p:nvPr/>
        </p:nvSpPr>
        <p:spPr>
          <a:xfrm>
            <a:off x="3255264" y="6400800"/>
            <a:ext cx="2633472" cy="457200"/>
          </a:xfrm>
          <a:prstGeom prst="roundRect">
            <a:avLst/>
          </a:prstGeom>
          <a:solidFill>
            <a:srgbClr val="2E8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Balance Sheet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EA7D65C-C1A6-5E35-2B82-CC02A8C236C2}"/>
              </a:ext>
            </a:extLst>
          </p:cNvPr>
          <p:cNvSpPr/>
          <p:nvPr/>
        </p:nvSpPr>
        <p:spPr>
          <a:xfrm>
            <a:off x="6181344" y="6400800"/>
            <a:ext cx="2633472" cy="457200"/>
          </a:xfrm>
          <a:prstGeom prst="roundRect">
            <a:avLst/>
          </a:prstGeom>
          <a:solidFill>
            <a:srgbClr val="2E8B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Cash Flow</a:t>
            </a:r>
          </a:p>
        </p:txBody>
      </p:sp>
    </p:spTree>
    <p:extLst>
      <p:ext uri="{BB962C8B-B14F-4D97-AF65-F5344CB8AC3E}">
        <p14:creationId xmlns:p14="http://schemas.microsoft.com/office/powerpoint/2010/main" val="998283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4971"/>
                </a:solidFill>
              </a:defRPr>
            </a:pPr>
            <a:r>
              <a:rPr dirty="0"/>
              <a:t>MANAGEMENT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Daily Collection Report</a:t>
            </a:r>
          </a:p>
          <a:p>
            <a:pPr>
              <a:defRPr sz="1800"/>
            </a:pPr>
            <a:r>
              <a:rPr dirty="0"/>
              <a:t>Department-wise Revenue</a:t>
            </a:r>
          </a:p>
          <a:p>
            <a:pPr>
              <a:defRPr sz="1800"/>
            </a:pPr>
            <a:r>
              <a:rPr dirty="0"/>
              <a:t>Insurance Pending Report</a:t>
            </a:r>
          </a:p>
          <a:p>
            <a:pPr>
              <a:defRPr sz="1800"/>
            </a:pPr>
            <a:r>
              <a:rPr dirty="0"/>
              <a:t>Vendor Outstanding Report</a:t>
            </a:r>
          </a:p>
          <a:p>
            <a:pPr>
              <a:defRPr sz="1800"/>
            </a:pPr>
            <a:r>
              <a:rPr dirty="0"/>
              <a:t>Patient Outstanding Report</a:t>
            </a:r>
          </a:p>
          <a:p>
            <a:pPr>
              <a:defRPr sz="1800"/>
            </a:pPr>
            <a:r>
              <a:rPr dirty="0"/>
              <a:t>Inventory Valuation Report</a:t>
            </a:r>
            <a:endParaRPr lang="en-GB" dirty="0"/>
          </a:p>
          <a:p>
            <a:pPr>
              <a:defRPr sz="1800"/>
            </a:pPr>
            <a:r>
              <a:rPr lang="en-IN" dirty="0"/>
              <a:t>Consumables Usage report</a:t>
            </a:r>
            <a:endParaRPr dirty="0"/>
          </a:p>
          <a:p>
            <a:pPr>
              <a:defRPr sz="1800"/>
            </a:pPr>
            <a:r>
              <a:rPr dirty="0"/>
              <a:t>Doctor Incentive Report</a:t>
            </a:r>
          </a:p>
          <a:p>
            <a:pPr>
              <a:defRPr sz="1800"/>
            </a:pPr>
            <a:r>
              <a:rPr dirty="0"/>
              <a:t>Cash Flow Report</a:t>
            </a:r>
          </a:p>
          <a:p>
            <a:pPr>
              <a:defRPr sz="1800"/>
            </a:pPr>
            <a:r>
              <a:rPr dirty="0"/>
              <a:t>Profit &amp; Loss Account</a:t>
            </a:r>
          </a:p>
          <a:p>
            <a:pPr>
              <a:defRPr sz="1800"/>
            </a:pPr>
            <a:r>
              <a:rPr dirty="0"/>
              <a:t>Balance Sheet</a:t>
            </a:r>
            <a:endParaRPr lang="en-GB" dirty="0"/>
          </a:p>
          <a:p>
            <a:pPr>
              <a:defRPr sz="1800"/>
            </a:pPr>
            <a:r>
              <a:rPr lang="en-IN" dirty="0"/>
              <a:t>Budget and Analysis</a:t>
            </a:r>
          </a:p>
          <a:p>
            <a:pPr>
              <a:defRPr sz="1800"/>
            </a:pPr>
            <a:r>
              <a:rPr lang="en-IN" dirty="0"/>
              <a:t>Day closing and shift closing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259</Words>
  <Application>Microsoft Office PowerPoint</Application>
  <PresentationFormat>On-screen Show (4:3)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Hospital ERP &amp; Operations Workflows</vt:lpstr>
      <vt:lpstr>HOSPITAL OPERATIONS</vt:lpstr>
      <vt:lpstr>PURCHASE WORKFLOW</vt:lpstr>
      <vt:lpstr>INVENTORY WORKFLOW</vt:lpstr>
      <vt:lpstr>INSURANCE WORKFLOW</vt:lpstr>
      <vt:lpstr>PAYROLL WORKFLOW</vt:lpstr>
      <vt:lpstr>DOCTOR’S PAYABLE WORKFLOW</vt:lpstr>
      <vt:lpstr>FINANCE MODULE</vt:lpstr>
      <vt:lpstr>PowerPoint Presentation</vt:lpstr>
      <vt:lpstr>MANAGEMENT REPORTS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2026-06-05T09:26:45Z</dcterms:modified>
  <cp:category/>
</cp:coreProperties>
</file>